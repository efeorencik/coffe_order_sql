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F076B-6212-47A5-A740-190DF02CC86C}" v="50" dt="2026-03-12T10:33:04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F963C-07DE-D97A-8D49-ADA407A48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CD54E-71BE-C9F5-4EF7-6E84B91C1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26868-31CC-2E6C-0186-2C18E8C8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212BB-A9EE-E4F9-680F-46E6FB5B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A787E-1135-F40B-AA01-EBFB4526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524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28C1-EABE-B90D-986F-512A046D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6F8C9-8480-2E5A-9502-A46240C90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D2A21-308F-E3AC-656F-40DB116E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68C27-B4C6-8A31-0A35-20DED3A4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F1E76-875A-E669-9A19-93FAAF40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009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9169-7DD8-F819-CD77-A0304FFA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A1CB6-75AF-A0F8-2279-D37FC162D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C9F89-B1D9-BCA6-8488-048DCC0D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6D4BD-A622-E4AE-8FBD-735D73A2C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95FE0-71F1-0FE4-0CCB-987C32AF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442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2B65D-416A-3DE1-ADE6-55332F1E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A9BA-2FF7-EB10-BF90-21CADA6FD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7BF49-7FB1-6CC9-DBF3-ACD5717EE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CB021-21F3-19FC-7F03-6E4397EA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6EF04-482F-EDB9-1764-B1FF3819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F42AB-E356-2DFD-377F-65439D2A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549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8AE2D-8354-0D8E-8CBD-4D3D49A61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F54C1-B792-8752-6A9B-E6B6A21B2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04FF0-E8C4-E7DF-C6C7-6E0FA1E7A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2D6691-CB95-B965-9EF6-472406143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71A778-27B8-83A7-879A-568BAB3D9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C3490A-9D3D-110A-4EE7-D7C0A1A41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D8FF7-D521-4D64-9090-93C1A798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629DB-5989-4AC6-5D37-A6E3A742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9202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2DAF5-04E0-F53D-738C-3F62799B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FFA3E-8124-73D4-0378-8036B379B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A15B21-77A5-A41A-1842-F638C421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93E06-CB58-E0EA-42A3-B9E92FBC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6162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46938D-277E-14E3-B8AD-323E9FC6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8F479-D703-BF49-A48D-15FE0795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3E750-0829-577A-455D-BBFA2EBD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993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E9938-2CE6-D8CC-4303-D47CA8C2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2C343-8E46-D29E-F068-DBBFD5BF4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85B81-3CBC-C5B1-33B5-9302D4CA5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47CB8-713F-386D-B317-5DA9CB92B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53DB9-0585-3313-8FB5-7FF3FFAF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CC292-2FC2-1D0C-F4D6-992870131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247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8BE2D-C034-8D37-3DEA-0383C2B4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B400E0-79E4-43F3-C8CA-96A3F5382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63EF1-60B5-D041-38A5-8DA795169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806BA-06DA-4A5C-D76C-E5C8581F1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B3AC3-FC08-2D28-781B-9A275A90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D3F3A-8BF2-D450-AE58-8F1ED0B0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254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6D4F-B7FB-2730-3413-D5BF61A2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F99A7-7F47-5CFB-CDD1-203E8A3AD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8D15D-7AD7-5685-DBAD-ECD8A88F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EE2C-706E-2E66-78E5-88E0ABE75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E366F-A4D0-1EB7-22C2-43E01952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878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436A8-D671-4063-E0AD-68EEB3599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64AE7-8082-A680-6883-5CF5D9218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5266-13B1-8F44-0A4F-1AE04B0E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C477A-0D44-C969-CE80-56D3EDF0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8A1E4-5E73-0AC0-213A-E3E8F8B4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043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D643FC-0A17-35D7-4805-C017E958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2656C-2CC4-9BAB-599B-E6F9F10E9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3C7A-8CA4-F769-BD69-8D97A4B11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DA8A4-EFFD-4D00-84B6-2C91980CF117}" type="datetimeFigureOut">
              <a:rPr lang="tr-TR" smtClean="0"/>
              <a:t>12.03.2026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1BEFB-F035-B20E-B273-1DAD62027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28DD0-B8A1-44EE-4F54-7BE17CF07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55C9D-9352-4D0E-879C-779D8483EA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30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1B37F5-7269-1E88-E2BE-B8EC2E04D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 fontScale="90000"/>
          </a:bodyPr>
          <a:lstStyle/>
          <a:p>
            <a:r>
              <a:rPr lang="tr-TR" sz="5200" dirty="0">
                <a:solidFill>
                  <a:schemeClr val="tx2"/>
                </a:solidFill>
              </a:rPr>
              <a:t>Kahve Satış Operasyonları: Uçtan Uca Veri Modelleme ve Analizi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2B19C-6782-B92E-A63C-CA63A2EDA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Efe ÖRENCİK</a:t>
            </a:r>
            <a:endParaRPr lang="tr-TR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35502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0FF00-DABE-989E-935A-D00246AF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 err="1">
                <a:solidFill>
                  <a:schemeClr val="tx2"/>
                </a:solidFill>
              </a:rPr>
              <a:t>Proje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  <a:r>
              <a:rPr lang="en-US" sz="3600" dirty="0" err="1">
                <a:solidFill>
                  <a:schemeClr val="tx2"/>
                </a:solidFill>
              </a:rPr>
              <a:t>Amacı</a:t>
            </a:r>
            <a:endParaRPr lang="tr-TR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7735F-5D90-EAD9-2054-FDDC4317B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tr-TR" sz="1800" dirty="0">
                <a:solidFill>
                  <a:schemeClr val="tx2"/>
                </a:solidFill>
              </a:rPr>
              <a:t>Problem: Ham verideki tutarsızlıkların iş kararlarını engellemesi.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Çözüm: SQL tabanlı ETL (</a:t>
            </a:r>
            <a:r>
              <a:rPr lang="tr-TR" sz="1800" dirty="0" err="1">
                <a:solidFill>
                  <a:schemeClr val="tx2"/>
                </a:solidFill>
              </a:rPr>
              <a:t>Extract-Transform-Load</a:t>
            </a:r>
            <a:r>
              <a:rPr lang="tr-TR" sz="1800" dirty="0">
                <a:solidFill>
                  <a:schemeClr val="tx2"/>
                </a:solidFill>
              </a:rPr>
              <a:t>) süreci ile verinin temizlenmesi ve analiz edilebilir hale getirilmesi.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Kullanılan Araçlar: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tr-TR" sz="1800" dirty="0">
                <a:solidFill>
                  <a:schemeClr val="tx2"/>
                </a:solidFill>
              </a:rPr>
              <a:t>SQL, Python (Görselleştirme).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729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32B25-0753-6B45-F36C-14B5D8814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163848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tr-TR" sz="3600" dirty="0">
                <a:solidFill>
                  <a:schemeClr val="tx2"/>
                </a:solidFill>
              </a:rPr>
              <a:t>Temel Performans Göstergeleri (</a:t>
            </a:r>
            <a:r>
              <a:rPr lang="tr-TR" sz="3600" dirty="0" err="1">
                <a:solidFill>
                  <a:schemeClr val="tx2"/>
                </a:solidFill>
              </a:rPr>
              <a:t>KPIs</a:t>
            </a:r>
            <a:r>
              <a:rPr lang="tr-TR" sz="3600" dirty="0">
                <a:solidFill>
                  <a:schemeClr val="tx2"/>
                </a:solidFill>
              </a:rPr>
              <a:t>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30A66-C864-60D8-F04D-68A9B54AC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2827419"/>
            <a:ext cx="10204495" cy="3227626"/>
          </a:xfrm>
        </p:spPr>
        <p:txBody>
          <a:bodyPr anchor="ctr">
            <a:normAutofit/>
          </a:bodyPr>
          <a:lstStyle/>
          <a:p>
            <a:r>
              <a:rPr lang="tr-TR" sz="1800" dirty="0">
                <a:solidFill>
                  <a:schemeClr val="tx2"/>
                </a:solidFill>
              </a:rPr>
              <a:t>Net Gelir: 10.896,00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tr-TR" sz="1800" dirty="0">
                <a:solidFill>
                  <a:schemeClr val="tx2"/>
                </a:solidFill>
              </a:rPr>
              <a:t>TL(İptal/İade hariç)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Sipariş Sayısı: 100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Ortalama Sepet (AOV): 119,74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tr-TR" sz="1800" dirty="0">
                <a:solidFill>
                  <a:schemeClr val="tx2"/>
                </a:solidFill>
              </a:rPr>
              <a:t>TL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İade Oranı: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tr-TR" sz="1800" dirty="0">
                <a:solidFill>
                  <a:schemeClr val="tx2"/>
                </a:solidFill>
              </a:rPr>
              <a:t>%4,0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Yorum: "Genel operasyon sağlıklı, ancak iade oranını %2 seviyesine çekmek için kurye operasyonlarını incelemeliyiz."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64790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2BE84-ED53-D459-FA19-12E07BF9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163848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tr-TR" sz="3600">
                <a:solidFill>
                  <a:schemeClr val="tx2"/>
                </a:solidFill>
              </a:rPr>
              <a:t>Şehir Bazlı Gelir Analizi</a:t>
            </a:r>
            <a:endParaRPr lang="tr-TR" sz="3600" dirty="0">
              <a:solidFill>
                <a:schemeClr val="tx2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3FB5ECB-827E-E27B-5C3C-32DB92B11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7" b="-3"/>
          <a:stretch>
            <a:fillRect/>
          </a:stretch>
        </p:blipFill>
        <p:spPr>
          <a:xfrm>
            <a:off x="804671" y="2923577"/>
            <a:ext cx="4954693" cy="30456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D8287-31AF-104E-F3BB-316392360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871" y="2827419"/>
            <a:ext cx="5029200" cy="3227626"/>
          </a:xfrm>
        </p:spPr>
        <p:txBody>
          <a:bodyPr anchor="ctr">
            <a:normAutofit/>
          </a:bodyPr>
          <a:lstStyle/>
          <a:p>
            <a:r>
              <a:rPr lang="tr-TR" sz="1800" dirty="0">
                <a:solidFill>
                  <a:schemeClr val="tx2"/>
                </a:solidFill>
              </a:rPr>
              <a:t>Bulgu: İstanbul operasyonun kalbi konumunda (Cironun \%33’ü).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Analiz: Ankara ve İzmir </a:t>
            </a:r>
            <a:r>
              <a:rPr lang="tr-TR" sz="1800" dirty="0" err="1">
                <a:solidFill>
                  <a:schemeClr val="tx2"/>
                </a:solidFill>
              </a:rPr>
              <a:t>başabaş</a:t>
            </a:r>
            <a:r>
              <a:rPr lang="tr-TR" sz="1800" dirty="0">
                <a:solidFill>
                  <a:schemeClr val="tx2"/>
                </a:solidFill>
              </a:rPr>
              <a:t> giderken, Antalya ve Bursa'da büyüme potansiyeli mevcut.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Strateji: İstanbul'daki başarı modelini (Best </a:t>
            </a:r>
            <a:r>
              <a:rPr lang="tr-TR" sz="1800" dirty="0" err="1">
                <a:solidFill>
                  <a:schemeClr val="tx2"/>
                </a:solidFill>
              </a:rPr>
              <a:t>Practices</a:t>
            </a:r>
            <a:r>
              <a:rPr lang="tr-TR" sz="1800" dirty="0">
                <a:solidFill>
                  <a:schemeClr val="tx2"/>
                </a:solidFill>
              </a:rPr>
              <a:t>) diğer illerdeki şubelere de entegre etmeliyiz.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3345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6CF99-38B5-0BFE-09FD-11F89D89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163848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tr-TR" sz="3600" dirty="0">
                <a:solidFill>
                  <a:schemeClr val="tx2"/>
                </a:solidFill>
              </a:rPr>
              <a:t>Günlük Operasyonel Yoğunluk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graph of a line graph&#10;&#10;AI-generated content may be incorrect.">
            <a:extLst>
              <a:ext uri="{FF2B5EF4-FFF2-40B4-BE49-F238E27FC236}">
                <a16:creationId xmlns:a16="http://schemas.microsoft.com/office/drawing/2014/main" id="{86FA8204-A054-EE13-969D-51B02ADA8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1" y="2959971"/>
            <a:ext cx="4954693" cy="29728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4709-E2FE-0D1E-C773-60F946E5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871" y="2827419"/>
            <a:ext cx="5029200" cy="3227626"/>
          </a:xfrm>
        </p:spPr>
        <p:txBody>
          <a:bodyPr anchor="ctr">
            <a:normAutofit/>
          </a:bodyPr>
          <a:lstStyle/>
          <a:p>
            <a:r>
              <a:rPr lang="tr-TR" sz="1800" dirty="0">
                <a:solidFill>
                  <a:schemeClr val="tx2"/>
                </a:solidFill>
              </a:rPr>
              <a:t>Bulgu: Siparişler sabah 09:00 (Kahvaltı) ve öğleden sonra 13:00 - 15:00 (Mola saatleri) arasında pik yapıyor.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Analiz: Saat 14:00 civarı en yüksek stres noktası; bu saatlerde hazırlık süresi (</a:t>
            </a:r>
            <a:r>
              <a:rPr lang="tr-TR" sz="1800">
                <a:solidFill>
                  <a:schemeClr val="tx2"/>
                </a:solidFill>
              </a:rPr>
              <a:t>prep_minutes</a:t>
            </a:r>
            <a:r>
              <a:rPr lang="tr-TR" sz="1800" dirty="0">
                <a:solidFill>
                  <a:schemeClr val="tx2"/>
                </a:solidFill>
              </a:rPr>
              <a:t>) artabilir.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Strateji: Yoğun saatlerde baristaların üzerindeki yükü azaltmak için ön hazırlık süreçleri iyileştirilmeli.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2586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25400-CFFA-1751-3942-74D99A38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tr-TR" sz="3600">
                <a:solidFill>
                  <a:schemeClr val="tx2"/>
                </a:solidFill>
              </a:rPr>
              <a:t>Müşteri Deneyimi ve Memnuniyet</a:t>
            </a:r>
            <a:endParaRPr lang="tr-TR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01DB-91ED-2025-844A-C12B5A545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tr-TR" sz="1800">
                <a:solidFill>
                  <a:schemeClr val="tx2"/>
                </a:solidFill>
              </a:rPr>
              <a:t>Kritik Bulgu: Teslimat süresi arttıkça müşteri puanı (Rating) doğrusal olarak düşüyor.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tr-TR" sz="1800">
                <a:solidFill>
                  <a:schemeClr val="tx2"/>
                </a:solidFill>
              </a:rPr>
              <a:t>Eşik Değer: 45 dakikayı geçen kurye teslimatlarında memnuniyet ciddi oranda azalıyor.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tr-TR" sz="1800">
                <a:solidFill>
                  <a:schemeClr val="tx2"/>
                </a:solidFill>
              </a:rPr>
              <a:t>Analiz: Şikayetlerin çoğu 'Cold' (Soğuk ürün) ve 'Late' (Gecikme) etiketleriyle eşleşiyor.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tr-TR" sz="1800">
                <a:solidFill>
                  <a:schemeClr val="tx2"/>
                </a:solidFill>
              </a:rPr>
              <a:t>Strateji: 40 dakikayı geçen bölgeler için ısı yalıtımlı paketleme veya kurye rotasyonu zorunlu hale getirilmeli.</a:t>
            </a:r>
            <a:endParaRPr lang="tr-TR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5298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87803F-2928-AB2E-770E-E58318AD8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48037D-95A9-41BE-6B1C-FAC978696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B41ABA-0613-982A-50D1-32586A5A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0166D7-1C64-0877-9D0B-E301C8D05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DBD1EA4-BDDF-11C0-A8A6-03D439D64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A6A9E49-D0F6-3547-BC4B-25B130A21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272B88-1A94-2BE7-2DFC-41D5EFD94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4026FE6-0FA9-E510-671C-6CFD22963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FB594-6D62-452F-6F8E-90B9D7DA8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F1A7D74-39C4-02B8-924C-AAB65395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7956E7-0DBE-C2BE-36AD-6F9D25FA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25992CA-FD73-6EA0-FDD6-BD5D0AFD4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een circle with red and orange triangles&#10;&#10;AI-generated content may be incorrect.">
            <a:extLst>
              <a:ext uri="{FF2B5EF4-FFF2-40B4-BE49-F238E27FC236}">
                <a16:creationId xmlns:a16="http://schemas.microsoft.com/office/drawing/2014/main" id="{E9BAE37A-9944-759D-CE07-EFD2FCBF2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7" r="-2" b="15175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Content Placeholder 4" descr="A graph of a delivery&#10;&#10;AI-generated content may be incorrect.">
            <a:extLst>
              <a:ext uri="{FF2B5EF4-FFF2-40B4-BE49-F238E27FC236}">
                <a16:creationId xmlns:a16="http://schemas.microsoft.com/office/drawing/2014/main" id="{9F78E8F0-EBB0-FE54-1766-6C637B32C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98" b="1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66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39510-A2B6-84DB-88CC-F1E76B8E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tr-TR" sz="3600" dirty="0">
                <a:solidFill>
                  <a:schemeClr val="tx2"/>
                </a:solidFill>
              </a:rPr>
              <a:t>Teknik Mükemmellik (SQL Süreci)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563E7-913B-8148-2E7E-F5437E11F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tr-TR" sz="1800" dirty="0">
                <a:solidFill>
                  <a:schemeClr val="tx2"/>
                </a:solidFill>
              </a:rPr>
              <a:t>Data </a:t>
            </a:r>
            <a:r>
              <a:rPr lang="tr-TR" sz="1800" dirty="0" err="1">
                <a:solidFill>
                  <a:schemeClr val="tx2"/>
                </a:solidFill>
              </a:rPr>
              <a:t>Integrity</a:t>
            </a:r>
            <a:r>
              <a:rPr lang="tr-TR" sz="1800" dirty="0">
                <a:solidFill>
                  <a:schemeClr val="tx2"/>
                </a:solidFill>
              </a:rPr>
              <a:t>: "1036 </a:t>
            </a:r>
            <a:r>
              <a:rPr lang="tr-TR" sz="1800" dirty="0" err="1">
                <a:solidFill>
                  <a:schemeClr val="tx2"/>
                </a:solidFill>
              </a:rPr>
              <a:t>nolu</a:t>
            </a:r>
            <a:r>
              <a:rPr lang="tr-TR" sz="1800" dirty="0">
                <a:solidFill>
                  <a:schemeClr val="tx2"/>
                </a:solidFill>
              </a:rPr>
              <a:t> sipariş gibi hatalı matematiksel girişleri SQL </a:t>
            </a:r>
            <a:r>
              <a:rPr lang="tr-TR" sz="1800" dirty="0" err="1">
                <a:solidFill>
                  <a:schemeClr val="tx2"/>
                </a:solidFill>
              </a:rPr>
              <a:t>flag'leri</a:t>
            </a:r>
            <a:r>
              <a:rPr lang="tr-TR" sz="1800" dirty="0">
                <a:solidFill>
                  <a:schemeClr val="tx2"/>
                </a:solidFill>
              </a:rPr>
              <a:t> ile tespit ettik.“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Standardizasyon: "Farklı formatlardaki tarih ve tutar bilgilerini normalize ederek veri ambarı standartlarına getirdik.“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tr-TR" sz="1800" dirty="0">
                <a:solidFill>
                  <a:schemeClr val="tx2"/>
                </a:solidFill>
              </a:rPr>
              <a:t>Ölçeklenebilirlik: "Hazırladığımız SQL </a:t>
            </a:r>
            <a:r>
              <a:rPr lang="tr-TR" sz="1800" dirty="0" err="1">
                <a:solidFill>
                  <a:schemeClr val="tx2"/>
                </a:solidFill>
              </a:rPr>
              <a:t>View'ları</a:t>
            </a:r>
            <a:r>
              <a:rPr lang="tr-TR" sz="1800" dirty="0">
                <a:solidFill>
                  <a:schemeClr val="tx2"/>
                </a:solidFill>
              </a:rPr>
              <a:t> doğrudan bir Dashboard (</a:t>
            </a:r>
            <a:r>
              <a:rPr lang="tr-TR" sz="1800" dirty="0" err="1">
                <a:solidFill>
                  <a:schemeClr val="tx2"/>
                </a:solidFill>
              </a:rPr>
              <a:t>Power</a:t>
            </a:r>
            <a:r>
              <a:rPr lang="tr-TR" sz="1800" dirty="0">
                <a:solidFill>
                  <a:schemeClr val="tx2"/>
                </a:solidFill>
              </a:rPr>
              <a:t> BI/</a:t>
            </a:r>
            <a:r>
              <a:rPr lang="tr-TR" sz="1800" dirty="0" err="1">
                <a:solidFill>
                  <a:schemeClr val="tx2"/>
                </a:solidFill>
              </a:rPr>
              <a:t>Tableau</a:t>
            </a:r>
            <a:r>
              <a:rPr lang="tr-TR" sz="1800" dirty="0">
                <a:solidFill>
                  <a:schemeClr val="tx2"/>
                </a:solidFill>
              </a:rPr>
              <a:t>) aracına bağlanmaya hazırdır."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0834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872B6-0018-05C2-6DC6-8F2986EF0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tr-TR" sz="3600" dirty="0">
                <a:solidFill>
                  <a:schemeClr val="tx2"/>
                </a:solidFill>
              </a:rPr>
              <a:t>Sonuç ve Aksiyon Planı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ABC47-08A5-66FF-BCA1-5D7CA09F6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sz="1800" dirty="0">
                <a:solidFill>
                  <a:schemeClr val="tx2"/>
                </a:solidFill>
              </a:rPr>
              <a:t>Hızlı Kazanç: İstanbul şubelerinde sadakat programı (Gold </a:t>
            </a:r>
            <a:r>
              <a:rPr lang="tr-TR" sz="1800" dirty="0" err="1">
                <a:solidFill>
                  <a:schemeClr val="tx2"/>
                </a:solidFill>
              </a:rPr>
              <a:t>Tier</a:t>
            </a:r>
            <a:r>
              <a:rPr lang="tr-TR" sz="1800" dirty="0">
                <a:solidFill>
                  <a:schemeClr val="tx2"/>
                </a:solidFill>
              </a:rPr>
              <a:t>) kampanyaları artırılmalı.</a:t>
            </a:r>
            <a:endParaRPr lang="en-US" sz="1800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tr-TR" sz="1800" dirty="0">
                <a:solidFill>
                  <a:schemeClr val="tx2"/>
                </a:solidFill>
              </a:rPr>
              <a:t>Operasyonel Müdahale: Öğleden sonraki yoğunluk için ek kurye planlaması yapılmalı.</a:t>
            </a:r>
            <a:endParaRPr lang="en-US" sz="1800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tr-TR" sz="1800" dirty="0">
                <a:solidFill>
                  <a:schemeClr val="tx2"/>
                </a:solidFill>
              </a:rPr>
              <a:t>Teknolojik Yatırım: Manuel veri girişi hatalarını azaltmak için sipariş otomasyonu iyileştirilmeli.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249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C46E9-24FF-059B-E5D0-859C29D2E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endParaRPr lang="tr-TR" sz="360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7CD5F-FA2C-9800-532E-2E7CD0067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endParaRPr lang="tr-TR" sz="18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039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377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Kahve Satış Operasyonları: Uçtan Uca Veri Modelleme ve Analizi</vt:lpstr>
      <vt:lpstr>Proje Amacı</vt:lpstr>
      <vt:lpstr>Temel Performans Göstergeleri (KPIs)</vt:lpstr>
      <vt:lpstr>Şehir Bazlı Gelir Analizi</vt:lpstr>
      <vt:lpstr>Günlük Operasyonel Yoğunluk</vt:lpstr>
      <vt:lpstr>Müşteri Deneyimi ve Memnuniyet</vt:lpstr>
      <vt:lpstr>PowerPoint Presentation</vt:lpstr>
      <vt:lpstr>Teknik Mükemmellik (SQL Süreci)</vt:lpstr>
      <vt:lpstr>Sonuç ve Aksiyon Planı</vt:lpstr>
      <vt:lpstr>PowerPoint Presentation</vt:lpstr>
    </vt:vector>
  </TitlesOfParts>
  <Company>MITAS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Efe ÖRENCİK</dc:creator>
  <cp:lastModifiedBy>Efe ÖRENCİK</cp:lastModifiedBy>
  <cp:revision>1</cp:revision>
  <dcterms:created xsi:type="dcterms:W3CDTF">2026-03-12T10:04:27Z</dcterms:created>
  <dcterms:modified xsi:type="dcterms:W3CDTF">2026-03-12T12:35:30Z</dcterms:modified>
</cp:coreProperties>
</file>